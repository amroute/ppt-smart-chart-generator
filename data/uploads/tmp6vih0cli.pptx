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15"/>
          <c:w val="0.72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工时</c:v>
                </c:pt>
              </c:strCache>
            </c:strRef>
          </c:tx>
          <c:spPr>
            <a:solidFill>
              <a:srgbClr val="2E5B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88F-8F4B-9030-6C0E01EFFE3E}"/>
              </c:ext>
            </c:extLst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8F-8F4B-9030-6C0E01EFFE3E}"/>
              </c:ext>
            </c:extLst>
          </c:dPt>
          <c:dPt>
            <c:idx val="2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8F-8F4B-9030-6C0E01EFFE3E}"/>
              </c:ext>
            </c:extLst>
          </c:dPt>
          <c:dPt>
            <c:idx val="3"/>
            <c:invertIfNegative val="0"/>
            <c:bubble3D val="0"/>
            <c:spPr>
              <a:solidFill>
                <a:srgbClr val="8E6A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88F-8F4B-9030-6C0E01EFFE3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组长
阿曼卓勒</c:v>
                </c:pt>
                <c:pt idx="1">
                  <c:v>许君达</c:v>
                </c:pt>
                <c:pt idx="2">
                  <c:v>吴昀洁</c:v>
                </c:pt>
                <c:pt idx="3">
                  <c:v>陈奕炫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24</c:v>
                </c:pt>
                <c:pt idx="2">
                  <c:v>22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88F-8F4B-9030-6C0E01EFFE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zh-CN"/>
          </a:p>
        </c:txPr>
        <c:crossAx val="2094734554"/>
        <c:crosses val="autoZero"/>
        <c:crossBetween val="between"/>
        <c:majorUnit val="4"/>
      </c:valAx>
      <c:spPr>
        <a:solidFill>
          <a:srgbClr val="FFFFFF">
            <a:alpha val="0"/>
          </a:srgbClr>
        </a:solidFill>
        <a:ln w="12700" cap="flat">
          <a:solidFill>
            <a:srgbClr val="D9E2EC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311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summary report: 小组四人Biweekly_Report_一页汇总 22.02.15.docx
- Individual reports from four team members (docx/pdf uploads)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Summary report and four member reports provided by the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One-page summary report uploaded by the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Four individual biweekly reports uploaded by the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Team summary report and individual reports uploaded by the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Next-step items synthesized from the four user-provided reports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50040" y="0"/>
            <a:ext cx="441655" cy="6858000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77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软件工程管理课程项目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1000" y="0"/>
            <a:ext cx="3749040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822960"/>
            <a:ext cx="128016" cy="53035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1–2 周小组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Biweekly Report 汇报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49808" y="276148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语义驱动的 PPT 智能图表生成与多模态配图系统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1821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时间范围：2026.3.30 – 2026.4.12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367588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汇报内容覆盖：总体架构、PPT 解析与图表生成、语义识别与 Prompt 工程、前端演示界面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83880" y="1097280"/>
            <a:ext cx="2880360" cy="1078992"/>
          </a:xfrm>
          <a:prstGeom prst="roundRect">
            <a:avLst>
              <a:gd name="adj" fmla="val 423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12700" dist="1524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48472" y="128016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12070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工程底座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48472" y="16093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/ requirements / LangGraph / 测试框架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83880" y="2606040"/>
            <a:ext cx="2880360" cy="1078992"/>
          </a:xfrm>
          <a:prstGeom prst="roundRect">
            <a:avLst>
              <a:gd name="adj" fmla="val 423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12700" dist="1524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48472" y="27889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2715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核心算法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8472" y="311810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 解析、8 类图表、五类语义识别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83880" y="4114800"/>
            <a:ext cx="2880360" cy="1078992"/>
          </a:xfrm>
          <a:prstGeom prst="roundRect">
            <a:avLst>
              <a:gd name="adj" fmla="val 423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12700" dist="1524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48472" y="429768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4224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应用展示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48472" y="462686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前端界面、进度条、图表预览与联调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阶段概览：已基本打通阶段性闭环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前两周团队累计投入约 88 小时，完成从内容输入到前端展示的首轮联通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435608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5B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88h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50392" y="182880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团队累计工时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32588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DDF3E6"/>
          </a:solidFill>
          <a:ln w="12700">
            <a:solidFill>
              <a:srgbClr val="DDF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1435608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7AE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633472" y="182880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成员 / 工作流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32588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CE8D7"/>
          </a:solidFill>
          <a:ln w="12700">
            <a:solidFill>
              <a:srgbClr val="FCE8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435608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299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416552" y="182880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核心链路节点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26517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阶段成果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384" y="2999232"/>
            <a:ext cx="5074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工程底座已搭建：完成 GitHub 仓库、项目结构、依赖管理、LangGraph Pipeline 与测试框架。
• 核心能力已成型：完成 PPT 解析、表格转 DataFrame、8 类图表生成、五类可视化意图识别。
• 可演示闭环已建立：打通“内容输入 → 图表 PNG → Gradio 展示”的阶段性流程。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73952" y="1965960"/>
            <a:ext cx="868680" cy="1737360"/>
          </a:xfrm>
          <a:prstGeom prst="roundRect">
            <a:avLst>
              <a:gd name="adj" fmla="val 5263"/>
            </a:avLst>
          </a:prstGeom>
          <a:solidFill>
            <a:srgbClr val="DCEBFA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2377440"/>
            <a:ext cx="713232" cy="86868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5B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内容输入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88352" y="269748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699248" y="2011680"/>
            <a:ext cx="868680" cy="1737360"/>
          </a:xfrm>
          <a:prstGeom prst="roundRect">
            <a:avLst>
              <a:gd name="adj" fmla="val 5263"/>
            </a:avLst>
          </a:prstGeom>
          <a:solidFill>
            <a:srgbClr val="EEE7FA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377440"/>
            <a:ext cx="713232" cy="86868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E6A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 解析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95360" y="269748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906256" y="2011680"/>
            <a:ext cx="868680" cy="1737360"/>
          </a:xfrm>
          <a:prstGeom prst="roundRect">
            <a:avLst>
              <a:gd name="adj" fmla="val 5263"/>
            </a:avLst>
          </a:prstGeom>
          <a:solidFill>
            <a:srgbClr val="DDF3E6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79408" y="2377440"/>
            <a:ext cx="713232" cy="86868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7AE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语义识别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802368" y="269748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113264" y="2011680"/>
            <a:ext cx="868680" cy="1737360"/>
          </a:xfrm>
          <a:prstGeom prst="roundRect">
            <a:avLst>
              <a:gd name="adj" fmla="val 5263"/>
            </a:avLst>
          </a:prstGeom>
          <a:solidFill>
            <a:srgbClr val="FCE8D7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86416" y="2377440"/>
            <a:ext cx="713232" cy="86868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99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图表生成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009376" y="269748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1320272" y="2011680"/>
            <a:ext cx="868680" cy="1737360"/>
          </a:xfrm>
          <a:prstGeom prst="roundRect">
            <a:avLst>
              <a:gd name="adj" fmla="val 5263"/>
            </a:avLst>
          </a:prstGeom>
          <a:solidFill>
            <a:srgbClr val="E7F0FB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93424" y="2377440"/>
            <a:ext cx="713232" cy="86868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前端展示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19088" y="425196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闭环说明：团队已完成首轮模块联通，能够在本地演示环境中展示从解析到图表输出的阶段性结果。</a:t>
            </a:r>
            <a:endParaRPr lang="en-US" sz="13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成员分工与工时投入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四位成员分别承担总体架构、PPT 解析、语义识别与前端开发等关键模块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371600"/>
          <a:ext cx="5029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572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144768" y="192024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组长负责统一工程底座与主流程集成，确保四人模块在同一 Pipeline 中衔接。
• PPT 解析与图表生成模块已实现“解析表格 → 图表 PNG”的功能闭环。
• 语义识别模块完成五类意图识别、Prompt 设计迭代与评估验证。
• 前端完成上传、页码选择、进度条、图表预览与本地演示。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897880" y="1463040"/>
            <a:ext cx="0" cy="448056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四个工作流的阶段进展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按模块看，团队已同时推进工程、算法与展示三条主线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10287000" cy="914400"/>
          </a:xfrm>
          <a:prstGeom prst="roundRect">
            <a:avLst>
              <a:gd name="adj" fmla="val 5000"/>
            </a:avLst>
          </a:prstGeom>
          <a:solidFill>
            <a:srgbClr val="DCEB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2704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阿曼卓勒·阿迪力江（组长）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96112" y="18013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5B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总体架构 / Pipeline / 集成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527048"/>
            <a:ext cx="0" cy="676656"/>
          </a:xfrm>
          <a:prstGeom prst="line">
            <a:avLst/>
          </a:prstGeom>
          <a:noFill/>
          <a:ln w="13970">
            <a:solidFill>
              <a:srgbClr val="C7D2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572768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Week1完成仓库、项目结构与 requirements 统一
• Week2设计 LangGraph Pipeline，搭建 main_pipeline 骨架，并加入测试、日志与重试机制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713232" y="2606040"/>
            <a:ext cx="10287000" cy="914400"/>
          </a:xfrm>
          <a:prstGeom prst="roundRect">
            <a:avLst>
              <a:gd name="adj" fmla="val 5000"/>
            </a:avLst>
          </a:prstGeom>
          <a:solidFill>
            <a:srgbClr val="DDF3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71576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许君达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96112" y="299008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AE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 解析与图表生成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715768"/>
            <a:ext cx="0" cy="676656"/>
          </a:xfrm>
          <a:prstGeom prst="line">
            <a:avLst/>
          </a:prstGeom>
          <a:noFill/>
          <a:ln w="13970">
            <a:solidFill>
              <a:srgbClr val="C7D2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761488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Week1完成 PPT 文本 / 表格 / 形状解析，并转为 DataFrame
• Week2开发 8 类图表生成模块，并接入后端 Pipeline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713232" y="3794760"/>
            <a:ext cx="10287000" cy="914400"/>
          </a:xfrm>
          <a:prstGeom prst="roundRect">
            <a:avLst>
              <a:gd name="adj" fmla="val 5000"/>
            </a:avLst>
          </a:prstGeom>
          <a:solidFill>
            <a:srgbClr val="FCE8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0448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吴昀洁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96112" y="417880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99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语义识别与 Prompt 工程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46120" y="3904488"/>
            <a:ext cx="0" cy="676656"/>
          </a:xfrm>
          <a:prstGeom prst="line">
            <a:avLst/>
          </a:prstGeom>
          <a:noFill/>
          <a:ln w="13970">
            <a:solidFill>
              <a:srgbClr val="C7D2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950208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Week1完成五类可视化意图识别与 Qwen API 接入
• Week2迭代 Prompt 并完成评估，打通“文本 → 图表 PNG”闭环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713232" y="4892040"/>
            <a:ext cx="10287000" cy="914400"/>
          </a:xfrm>
          <a:prstGeom prst="roundRect">
            <a:avLst>
              <a:gd name="adj" fmla="val 5000"/>
            </a:avLst>
          </a:prstGeom>
          <a:solidFill>
            <a:srgbClr val="EEE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500176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陈奕炫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96112" y="527608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6A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前端界面开发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5001768"/>
            <a:ext cx="0" cy="676656"/>
          </a:xfrm>
          <a:prstGeom prst="line">
            <a:avLst/>
          </a:prstGeom>
          <a:noFill/>
          <a:ln w="13970">
            <a:solidFill>
              <a:srgbClr val="C7D2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5047488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Week1完成 </a:t>
            </a:r>
            <a:r>
              <a:rPr lang="en-US" sz="1160" dirty="0" err="1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</a:t>
            </a:r>
            <a:r>
              <a:rPr lang="en-US" sz="11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基础界面、上传、页码选择与生成触发
• Week2新增进度条、图表预览与配图区，并完成本地演示对接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系统底座与联调成果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前两周的关键价值在于先搭底座，再让四个模块在统一主流程中对齐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709160" y="24688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92040" y="27249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main_pipeline.py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 主流程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2423160" cy="914400"/>
          </a:xfrm>
          <a:prstGeom prst="roundRect">
            <a:avLst>
              <a:gd name="adj" fmla="val 5000"/>
            </a:avLst>
          </a:prstGeom>
          <a:solidFill>
            <a:srgbClr val="DDF3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55448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 解析与图表生成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69264" y="1837944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7AE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解析页面内容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7AE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输出图表 PNG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2423160" cy="914400"/>
          </a:xfrm>
          <a:prstGeom prst="roundRect">
            <a:avLst>
              <a:gd name="adj" fmla="val 5000"/>
            </a:avLst>
          </a:prstGeom>
          <a:solidFill>
            <a:srgbClr val="FCE8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429768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语义识别与 Prompt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9264" y="4581144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99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识别可视化意图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299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推荐图表类型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0" y="1417320"/>
            <a:ext cx="2423160" cy="914400"/>
          </a:xfrm>
          <a:prstGeom prst="roundRect">
            <a:avLst>
              <a:gd name="adj" fmla="val 5000"/>
            </a:avLst>
          </a:prstGeom>
          <a:solidFill>
            <a:srgbClr val="EEE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58784" y="155448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前端展示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558784" y="1837944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E6A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上传 / 预览 / 进度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8E6A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本地演示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0" y="4160520"/>
            <a:ext cx="2423160" cy="914400"/>
          </a:xfrm>
          <a:prstGeom prst="roundRect">
            <a:avLst>
              <a:gd name="adj" fmla="val 5000"/>
            </a:avLst>
          </a:prstGeom>
          <a:solidFill>
            <a:srgbClr val="DCEB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58784" y="429768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工程底座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558784" y="4581144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E5B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/ 依赖 / 测试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E5B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日志 / 错误重试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11880" y="27706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11880" y="40416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↗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53528" y="27706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662672" y="34930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↘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1248" y="55961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联调结果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93392" y="5596128"/>
            <a:ext cx="8641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项目已不再是分散脚本集合，而是具备统一入口、统一日志、统一容错与统一测试能力的可扩展原型。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下一阶段计划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从“阶段性闭环”走向“完整产品原型”，重点推进写回、配图、下载与端到端测试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011680" cy="2057400"/>
          </a:xfrm>
          <a:prstGeom prst="roundRect">
            <a:avLst>
              <a:gd name="adj" fmla="val 2273"/>
            </a:avLst>
          </a:prstGeom>
          <a:solidFill>
            <a:srgbClr val="DDF3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61848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842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图表写回 PPT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77824" y="244144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完成图表插入回 PPT 的写回模块，并继续优化样式与版式适配。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3639312" y="1508760"/>
            <a:ext cx="2011680" cy="2057400"/>
          </a:xfrm>
          <a:prstGeom prst="roundRect">
            <a:avLst>
              <a:gd name="adj" fmla="val 2273"/>
            </a:avLst>
          </a:prstGeom>
          <a:solidFill>
            <a:srgbClr val="FCE8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5616" y="161848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99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85616" y="19842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多模态配图模块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85616" y="244144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启动配图检索 / 生成能力，补齐图表之外的视觉素材链路。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547104" y="1508760"/>
            <a:ext cx="2011680" cy="2057400"/>
          </a:xfrm>
          <a:prstGeom prst="roundRect">
            <a:avLst>
              <a:gd name="adj" fmla="val 2273"/>
            </a:avLst>
          </a:prstGeom>
          <a:solidFill>
            <a:srgbClr val="EEE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3408" y="161848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E6A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93408" y="19842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前端下载与交互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93408" y="244144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支持新生成 PPT 下载、重新生成配图以及更多过程反馈信息。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9454896" y="1508760"/>
            <a:ext cx="2011680" cy="2057400"/>
          </a:xfrm>
          <a:prstGeom prst="roundRect">
            <a:avLst>
              <a:gd name="adj" fmla="val 2273"/>
            </a:avLst>
          </a:prstGeom>
          <a:solidFill>
            <a:srgbClr val="DCEB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161848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5B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0" y="19842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端到端测试优化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01200" y="244144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扩展完整测试与性能优化，持续增强主流程稳定性和鲁棒性。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1737360" y="4251960"/>
            <a:ext cx="8183880" cy="0"/>
          </a:xfrm>
          <a:prstGeom prst="line">
            <a:avLst/>
          </a:prstGeom>
          <a:noFill/>
          <a:ln w="17780">
            <a:solidFill>
              <a:srgbClr val="C7D2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404164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阶段目标：把“能演示”推进为“能稳定产出结果”。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68096" y="4937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Thanks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86384" y="54498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以上内容根据小组四人的 biweekly reports 整理而成，可直接作为课堂汇报或答辩阶段性进展展示。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E7781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504</Words>
  <Application>Microsoft Macintosh PowerPoint</Application>
  <PresentationFormat>宽屏</PresentationFormat>
  <Paragraphs>106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Noto Sans CJK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软件工程管理课程项目第1–2周小组 Biweekly Report</dc:title>
  <dc:subject>Biweekly Report Summary</dc:subject>
  <dc:creator>OpenAI</dc:creator>
  <cp:lastModifiedBy>M19256</cp:lastModifiedBy>
  <cp:revision>2</cp:revision>
  <dcterms:created xsi:type="dcterms:W3CDTF">2026-04-19T14:13:09Z</dcterms:created>
  <dcterms:modified xsi:type="dcterms:W3CDTF">2026-04-19T14:18:46Z</dcterms:modified>
</cp:coreProperties>
</file>