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Lst>
  <p:sldIdLst>
    <p:sldId id="256" r:id="rId2"/>
    <p:sldId id="263" r:id="rId3"/>
    <p:sldId id="264" r:id="rId4"/>
    <p:sldId id="265" r:id="rId5"/>
    <p:sldId id="266" r:id="rId6"/>
    <p:sldId id="268" r:id="rId7"/>
    <p:sldId id="269" r:id="rId8"/>
    <p:sldId id="262" r:id="rId9"/>
    <p:sldId id="257" r:id="rId10"/>
    <p:sldId id="259" r:id="rId11"/>
    <p:sldId id="260"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p:scale>
          <a:sx n="105" d="100"/>
          <a:sy n="105" d="100"/>
        </p:scale>
        <p:origin x="1384"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800" spc="41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3/18/26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19385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3/18/26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691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3/18/26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1623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3/18/26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45237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3/18/26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6860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3/18/26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9157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3/18/26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26887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3/18/26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97995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3/18/26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50878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3/18/26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04608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3/18/26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45959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lIns="109728" tIns="109728" rIns="109728" bIns="91440"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lIns="109728" tIns="109728" rIns="109728" bIns="91440" anchor="ctr"/>
          <a:lstStyle>
            <a:lvl1pPr algn="r">
              <a:defRPr sz="1050" spc="150">
                <a:solidFill>
                  <a:schemeClr val="tx1"/>
                </a:solidFill>
                <a:latin typeface="+mj-lt"/>
              </a:defRPr>
            </a:lvl1pPr>
          </a:lstStyle>
          <a:p>
            <a:fld id="{E31BA835-12AC-4E8F-955A-EA3F4DE2791F}" type="datetime1">
              <a:rPr lang="en-US" smtClean="0"/>
              <a:t>3/18/26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lIns="109728" tIns="109728" rIns="109728" bIns="91440" anchor="ctr"/>
          <a:lstStyle>
            <a:lvl1pPr algn="l">
              <a:defRPr sz="1050" spc="1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lIns="109728" tIns="109728" rIns="109728" bIns="9144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629302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8" r:id="rId6"/>
    <p:sldLayoutId id="2147483703" r:id="rId7"/>
    <p:sldLayoutId id="2147483704" r:id="rId8"/>
    <p:sldLayoutId id="2147483705" r:id="rId9"/>
    <p:sldLayoutId id="2147483707" r:id="rId10"/>
    <p:sldLayoutId id="2147483706" r:id="rId11"/>
  </p:sldLayoutIdLst>
  <p:hf sldNum="0" hdr="0" ftr="0" dt="0"/>
  <p:txStyles>
    <p:titleStyle>
      <a:lvl1pPr algn="l" defTabSz="914400" rtl="0" eaLnBrk="1" latinLnBrk="0" hangingPunct="1">
        <a:lnSpc>
          <a:spcPct val="100000"/>
        </a:lnSpc>
        <a:spcBef>
          <a:spcPct val="0"/>
        </a:spcBef>
        <a:buNone/>
        <a:defRPr sz="4000" kern="1200" cap="none" spc="3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spc="18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spc="18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18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spc="18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spc="18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0" name="Rectangle 19">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标题 1">
            <a:extLst>
              <a:ext uri="{FF2B5EF4-FFF2-40B4-BE49-F238E27FC236}">
                <a16:creationId xmlns:a16="http://schemas.microsoft.com/office/drawing/2014/main" id="{C7EAD5DA-4FCD-128C-73E5-2B8038374B4D}"/>
              </a:ext>
            </a:extLst>
          </p:cNvPr>
          <p:cNvSpPr>
            <a:spLocks noGrp="1"/>
          </p:cNvSpPr>
          <p:nvPr>
            <p:ph type="ctrTitle"/>
          </p:nvPr>
        </p:nvSpPr>
        <p:spPr>
          <a:xfrm>
            <a:off x="313786" y="908651"/>
            <a:ext cx="5230366" cy="4005454"/>
          </a:xfrm>
        </p:spPr>
        <p:txBody>
          <a:bodyPr anchor="t">
            <a:normAutofit/>
          </a:bodyPr>
          <a:lstStyle/>
          <a:p>
            <a:pPr>
              <a:lnSpc>
                <a:spcPct val="90000"/>
              </a:lnSpc>
            </a:pPr>
            <a:r>
              <a:rPr kumimoji="1" lang="zh-CN" altLang="en-US" sz="6800" dirty="0"/>
              <a:t>面向复杂城市楼宇环境的无人机物流路径规划</a:t>
            </a:r>
          </a:p>
        </p:txBody>
      </p:sp>
      <p:sp>
        <p:nvSpPr>
          <p:cNvPr id="3" name="副标题 2">
            <a:extLst>
              <a:ext uri="{FF2B5EF4-FFF2-40B4-BE49-F238E27FC236}">
                <a16:creationId xmlns:a16="http://schemas.microsoft.com/office/drawing/2014/main" id="{BEBEF02C-5120-F6F4-49A7-7866AF5805BE}"/>
              </a:ext>
            </a:extLst>
          </p:cNvPr>
          <p:cNvSpPr>
            <a:spLocks noGrp="1"/>
          </p:cNvSpPr>
          <p:nvPr>
            <p:ph type="subTitle" idx="1"/>
          </p:nvPr>
        </p:nvSpPr>
        <p:spPr>
          <a:xfrm>
            <a:off x="313787" y="5050632"/>
            <a:ext cx="3793200" cy="1129888"/>
          </a:xfrm>
        </p:spPr>
        <p:txBody>
          <a:bodyPr anchor="b">
            <a:normAutofit/>
          </a:bodyPr>
          <a:lstStyle/>
          <a:p>
            <a:endParaRPr kumimoji="1" lang="zh-CN" altLang="en-US" sz="2200"/>
          </a:p>
        </p:txBody>
      </p:sp>
      <p:cxnSp>
        <p:nvCxnSpPr>
          <p:cNvPr id="22" name="Straight Connector 21">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557586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298E5D-46F4-FD7E-28CE-45DE2F6797A4}"/>
              </a:ext>
            </a:extLst>
          </p:cNvPr>
          <p:cNvSpPr>
            <a:spLocks noGrp="1"/>
          </p:cNvSpPr>
          <p:nvPr>
            <p:ph type="title"/>
          </p:nvPr>
        </p:nvSpPr>
        <p:spPr>
          <a:xfrm>
            <a:off x="4786152" y="2775204"/>
            <a:ext cx="2619696" cy="1307592"/>
          </a:xfrm>
        </p:spPr>
        <p:txBody>
          <a:bodyPr/>
          <a:lstStyle/>
          <a:p>
            <a:r>
              <a:rPr kumimoji="1" lang="zh-CN" altLang="en-US" dirty="0"/>
              <a:t>训练方法</a:t>
            </a:r>
            <a:br>
              <a:rPr kumimoji="1" lang="en-US" altLang="zh-CN" dirty="0"/>
            </a:br>
            <a:endParaRPr kumimoji="1" lang="zh-CN" altLang="en-US" dirty="0"/>
          </a:p>
        </p:txBody>
      </p:sp>
    </p:spTree>
    <p:extLst>
      <p:ext uri="{BB962C8B-B14F-4D97-AF65-F5344CB8AC3E}">
        <p14:creationId xmlns:p14="http://schemas.microsoft.com/office/powerpoint/2010/main" val="2003363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内容占位符 2">
            <a:extLst>
              <a:ext uri="{FF2B5EF4-FFF2-40B4-BE49-F238E27FC236}">
                <a16:creationId xmlns:a16="http://schemas.microsoft.com/office/drawing/2014/main" id="{F08B27E6-F4BF-2584-A730-5984D2B35110}"/>
              </a:ext>
            </a:extLst>
          </p:cNvPr>
          <p:cNvSpPr>
            <a:spLocks noGrp="1"/>
          </p:cNvSpPr>
          <p:nvPr>
            <p:ph idx="1"/>
          </p:nvPr>
        </p:nvSpPr>
        <p:spPr>
          <a:xfrm>
            <a:off x="704088" y="2387600"/>
            <a:ext cx="3799763" cy="3767328"/>
          </a:xfrm>
        </p:spPr>
        <p:txBody>
          <a:bodyPr>
            <a:normAutofit/>
          </a:bodyPr>
          <a:lstStyle/>
          <a:p>
            <a:r>
              <a:rPr kumimoji="1" lang="zh-CN" altLang="en-US" dirty="0"/>
              <a:t>不采用</a:t>
            </a:r>
            <a:r>
              <a:rPr kumimoji="1" lang="en" altLang="zh-CN" dirty="0"/>
              <a:t>SLAM</a:t>
            </a:r>
            <a:r>
              <a:rPr kumimoji="1" lang="zh-CN" altLang="en-US" dirty="0"/>
              <a:t>或是预定义的语义地图，而是使用一个从深度图</a:t>
            </a:r>
            <a:r>
              <a:rPr kumimoji="1" lang="en-US" altLang="zh-CN" dirty="0"/>
              <a:t>+</a:t>
            </a:r>
            <a:r>
              <a:rPr kumimoji="1" lang="zh-CN" altLang="en-US" dirty="0"/>
              <a:t>雷达两个传感器信息直接通过神经网络和强化学习来训练无人机的动作，构建了一个端到端的网络。</a:t>
            </a:r>
          </a:p>
        </p:txBody>
      </p:sp>
      <p:pic>
        <p:nvPicPr>
          <p:cNvPr id="4" name="图片 3">
            <a:extLst>
              <a:ext uri="{FF2B5EF4-FFF2-40B4-BE49-F238E27FC236}">
                <a16:creationId xmlns:a16="http://schemas.microsoft.com/office/drawing/2014/main" id="{18C2E9A0-5961-D91F-1122-63E15F91DA4E}"/>
              </a:ext>
            </a:extLst>
          </p:cNvPr>
          <p:cNvPicPr>
            <a:picLocks noChangeAspect="1"/>
          </p:cNvPicPr>
          <p:nvPr/>
        </p:nvPicPr>
        <p:blipFill>
          <a:blip r:embed="rId2"/>
          <a:srcRect l="12212" r="5697" b="1"/>
          <a:stretch>
            <a:fillRect/>
          </a:stretch>
        </p:blipFill>
        <p:spPr>
          <a:xfrm>
            <a:off x="4981575" y="735286"/>
            <a:ext cx="6495042" cy="5419642"/>
          </a:xfrm>
          <a:prstGeom prst="rect">
            <a:avLst/>
          </a:prstGeom>
        </p:spPr>
      </p:pic>
      <p:sp>
        <p:nvSpPr>
          <p:cNvPr id="5" name="文本框 4">
            <a:extLst>
              <a:ext uri="{FF2B5EF4-FFF2-40B4-BE49-F238E27FC236}">
                <a16:creationId xmlns:a16="http://schemas.microsoft.com/office/drawing/2014/main" id="{D0592DF6-D97A-F568-CF6F-2F5E7FEB5705}"/>
              </a:ext>
            </a:extLst>
          </p:cNvPr>
          <p:cNvSpPr txBox="1"/>
          <p:nvPr/>
        </p:nvSpPr>
        <p:spPr>
          <a:xfrm>
            <a:off x="2357859" y="5297269"/>
            <a:ext cx="2384854" cy="646331"/>
          </a:xfrm>
          <a:prstGeom prst="rect">
            <a:avLst/>
          </a:prstGeom>
          <a:noFill/>
        </p:spPr>
        <p:txBody>
          <a:bodyPr wrap="square" rtlCol="0">
            <a:spAutoFit/>
          </a:bodyPr>
          <a:lstStyle/>
          <a:p>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模型的处理过程如图所示：</a:t>
            </a:r>
          </a:p>
        </p:txBody>
      </p:sp>
    </p:spTree>
    <p:extLst>
      <p:ext uri="{BB962C8B-B14F-4D97-AF65-F5344CB8AC3E}">
        <p14:creationId xmlns:p14="http://schemas.microsoft.com/office/powerpoint/2010/main" val="3321308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BAEDC50-DD18-6A0E-1417-B38439B5C59C}"/>
                  </a:ext>
                </a:extLst>
              </p:cNvPr>
              <p:cNvSpPr>
                <a:spLocks noGrp="1"/>
              </p:cNvSpPr>
              <p:nvPr>
                <p:ph idx="1"/>
              </p:nvPr>
            </p:nvSpPr>
            <p:spPr>
              <a:xfrm>
                <a:off x="750367" y="823328"/>
                <a:ext cx="10691265" cy="3739896"/>
              </a:xfrm>
            </p:spPr>
            <p:txBody>
              <a:bodyPr/>
              <a:lstStyle/>
              <a:p>
                <a:pPr>
                  <a:lnSpc>
                    <a:spcPct val="115000"/>
                  </a:lnSpc>
                  <a:spcAft>
                    <a:spcPts val="800"/>
                  </a:spcAft>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模型的奖励函数分为三类：路径相关奖励、碰撞相关奖励和飞行稳定相关奖励：</a:t>
                </a:r>
              </a:p>
              <a:p>
                <a14:m>
                  <m:oMath xmlns:m="http://schemas.openxmlformats.org/officeDocument/2006/math">
                    <m:m>
                      <m:mPr>
                        <m:plcHide m:val="on"/>
                        <m:mcs>
                          <m:mc>
                            <m:mcPr>
                              <m:count m:val="4"/>
                              <m:mcJc m:val="center"/>
                            </m:mcPr>
                          </m:mc>
                        </m:mcs>
                        <m:ctrlPr>
                          <a:rPr lang="zh-CN" altLang="zh-CN" i="1">
                            <a:effectLst/>
                            <a:latin typeface="Cambria Math" panose="02040503050406030204" pitchFamily="18" charset="0"/>
                            <a:ea typeface="Cambria Math" panose="02040503050406030204" pitchFamily="18" charset="0"/>
                          </a:rPr>
                        </m:ctrlPr>
                      </m:mPr>
                      <m:mr>
                        <m:e/>
                        <m:e>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𝑅</m:t>
                          </m:r>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𝑅</m:t>
                              </m:r>
                            </m:e>
                            <m:sub>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𝑝𝑎𝑡h</m:t>
                              </m:r>
                            </m:sub>
                          </m:sSub>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𝑅</m:t>
                              </m:r>
                            </m:e>
                            <m:sub>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𝑐𝑜𝑙𝑙𝑖𝑠𝑖𝑜𝑛</m:t>
                              </m:r>
                            </m:sub>
                          </m:sSub>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𝑅</m:t>
                              </m:r>
                            </m:e>
                            <m:sub>
                              <m:r>
                                <a:rPr lang="en-US" altLang="zh-CN" sz="1800" i="1">
                                  <a:effectLst/>
                                  <a:latin typeface="Cambria Math" panose="02040503050406030204" pitchFamily="18" charset="0"/>
                                  <a:ea typeface="DengXian" panose="02010600030101010101" pitchFamily="2" charset="-122"/>
                                  <a:cs typeface="Times New Roman" panose="02020603050405020304" pitchFamily="18" charset="0"/>
                                </a:rPr>
                                <m:t>𝑠𝑡𝑎𝑏𝑖𝑙𝑖𝑧𝑎𝑡𝑖𝑜𝑛</m:t>
                              </m:r>
                            </m:sub>
                          </m:sSub>
                        </m:e>
                        <m:e/>
                        <m:e/>
                      </m:mr>
                    </m:m>
                  </m:oMath>
                </a14:m>
                <a:r>
                  <a:rPr lang="zh-CN" altLang="zh-CN" dirty="0">
                    <a:effectLst/>
                  </a:rPr>
                  <a:t> </a:t>
                </a:r>
                <a:endParaRPr lang="en-US" altLang="zh-CN" dirty="0">
                  <a:effectLst/>
                </a:endParaRPr>
              </a:p>
              <a:p>
                <a:r>
                  <a:rPr kumimoji="1" lang="zh-CN" altLang="en-US" sz="1800" dirty="0"/>
                  <a:t>路径奖励由训练模拟的路径精确度、平稳性来给予。</a:t>
                </a:r>
                <a:endParaRPr kumimoji="1" lang="en-US" altLang="zh-CN" sz="1800" dirty="0"/>
              </a:p>
              <a:p>
                <a:r>
                  <a:rPr kumimoji="1" lang="zh-CN" altLang="en-US" sz="1800" dirty="0"/>
                  <a:t>膨胀奖励由检测碰撞和</a:t>
                </a:r>
                <a:r>
                  <a:rPr kumimoji="1" lang="en-US" altLang="zh-CN" sz="1800" dirty="0"/>
                  <a:t>z</a:t>
                </a:r>
                <a:r>
                  <a:rPr kumimoji="1" lang="zh-CN" altLang="en-US" sz="1800" dirty="0"/>
                  <a:t>轴碰撞（预测）给予。</a:t>
                </a:r>
                <a:endParaRPr kumimoji="1" lang="en-US" altLang="zh-CN" sz="1800" dirty="0"/>
              </a:p>
              <a:p>
                <a:r>
                  <a:rPr kumimoji="1" lang="zh-CN" altLang="en-US" sz="1800" dirty="0"/>
                  <a:t>飞行稳定相关奖励由飞行速度和角加速度给予。</a:t>
                </a:r>
                <a:endParaRPr kumimoji="1" lang="en-US" altLang="zh-CN" sz="1800" dirty="0"/>
              </a:p>
              <a:p>
                <a:pPr>
                  <a:lnSpc>
                    <a:spcPct val="115000"/>
                  </a:lnSpc>
                  <a:spcAft>
                    <a:spcPts val="800"/>
                  </a:spcAft>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论文使用案例缓冲区来加速训练过程。</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nSpc>
                    <a:spcPct val="115000"/>
                  </a:lnSpc>
                  <a:spcAft>
                    <a:spcPts val="800"/>
                  </a:spcAft>
                </a:pP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训练最高分的一条稳定精确时效强的模拟飞行路径。</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nSpc>
                    <a:spcPct val="115000"/>
                  </a:lnSpc>
                  <a:spcAft>
                    <a:spcPts val="800"/>
                  </a:spcAft>
                </a:pPr>
                <a14:m>
                  <m:oMath xmlns:m="http://schemas.openxmlformats.org/officeDocument/2006/math">
                    <m:m>
                      <m:mPr>
                        <m:plcHide m:val="on"/>
                        <m:mcs>
                          <m:mc>
                            <m:mcPr>
                              <m:count m:val="4"/>
                              <m:mcJc m:val="center"/>
                            </m:mcPr>
                          </m:mc>
                        </m:mcs>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𝐶𝐵</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m:t>
                          </m:r>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2"/>
                                        <m:mcJc m:val="center"/>
                                      </m:mcPr>
                                    </m:mc>
                                  </m:mcs>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d>
                                      <m:dPr>
                                        <m:begChr m:val="["/>
                                        <m:endChr m:val="]"/>
                                        <m:sep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m:t>
                                            </m:r>
                                          </m:sub>
                                        </m:sSub>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5</m:t>
                                            </m:r>
                                            <m:r>
                                              <a:rPr lang="en-US" altLang="zh-CN" sz="1800" kern="100">
                                                <a:effectLst/>
                                                <a:latin typeface="Cambria Math" panose="02040503050406030204" pitchFamily="18" charset="0"/>
                                                <a:ea typeface="DengXian" panose="02010600030101010101" pitchFamily="2" charset="-122"/>
                                                <a:cs typeface="Times New Roman" panose="02020603050405020304" pitchFamily="18" charset="0"/>
                                              </a:rPr>
                                              <m:t>%</m:t>
                                            </m:r>
                                          </m:sub>
                                        </m:sSub>
                                      </m:e>
                                    </m:d>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𝑇𝑆</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&lt;0.15</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e>
                                </m:mr>
                                <m:mr>
                                  <m:e>
                                    <m:d>
                                      <m:dPr>
                                        <m:begChr m:val="["/>
                                        <m:endChr m:val="]"/>
                                        <m:sep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m:t>
                                            </m:r>
                                          </m:sub>
                                        </m:sSub>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10</m:t>
                                            </m:r>
                                            <m:r>
                                              <a:rPr lang="en-US" altLang="zh-CN" sz="1800" kern="100">
                                                <a:effectLst/>
                                                <a:latin typeface="Cambria Math" panose="02040503050406030204" pitchFamily="18" charset="0"/>
                                                <a:ea typeface="DengXian" panose="02010600030101010101" pitchFamily="2" charset="-122"/>
                                                <a:cs typeface="Times New Roman" panose="02020603050405020304" pitchFamily="18" charset="0"/>
                                              </a:rPr>
                                              <m:t>%</m:t>
                                            </m:r>
                                          </m:sub>
                                        </m:sSub>
                                      </m:e>
                                    </m:d>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0.15</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𝑇𝑆</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&lt;0.35</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e>
                                </m:mr>
                                <m:mr>
                                  <m:e>
                                    <m:d>
                                      <m:dPr>
                                        <m:begChr m:val="["/>
                                        <m:endChr m:val="]"/>
                                        <m:sep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m:t>
                                            </m:r>
                                          </m:sub>
                                        </m:sSub>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20</m:t>
                                            </m:r>
                                            <m:r>
                                              <a:rPr lang="en-US" altLang="zh-CN" sz="1800" kern="100">
                                                <a:effectLst/>
                                                <a:latin typeface="Cambria Math" panose="02040503050406030204" pitchFamily="18" charset="0"/>
                                                <a:ea typeface="DengXian" panose="02010600030101010101" pitchFamily="2" charset="-122"/>
                                                <a:cs typeface="Times New Roman" panose="02020603050405020304" pitchFamily="18" charset="0"/>
                                              </a:rPr>
                                              <m:t>%</m:t>
                                            </m:r>
                                          </m:sub>
                                        </m:sSub>
                                      </m:e>
                                    </m:d>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0.35</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𝑇𝑆</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&lt;0.5</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e>
                                </m:mr>
                                <m:mr>
                                  <m:e>
                                    <m:d>
                                      <m:dPr>
                                        <m:begChr m:val="["/>
                                        <m:endChr m:val="]"/>
                                        <m:sep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m:t>
                                            </m:r>
                                          </m:sub>
                                        </m:sSub>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40</m:t>
                                            </m:r>
                                            <m:r>
                                              <a:rPr lang="en-US" altLang="zh-CN" sz="1800" kern="100">
                                                <a:effectLst/>
                                                <a:latin typeface="Cambria Math" panose="02040503050406030204" pitchFamily="18" charset="0"/>
                                                <a:ea typeface="DengXian" panose="02010600030101010101" pitchFamily="2" charset="-122"/>
                                                <a:cs typeface="Times New Roman" panose="02020603050405020304" pitchFamily="18" charset="0"/>
                                              </a:rPr>
                                              <m:t>%</m:t>
                                            </m:r>
                                          </m:sub>
                                        </m:sSub>
                                      </m:e>
                                    </m:d>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0.5</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𝑇𝑆</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&lt;0.7</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e>
                                </m:mr>
                                <m:mr>
                                  <m:e>
                                    <m:d>
                                      <m:dPr>
                                        <m:begChr m:val="["/>
                                        <m:endChr m:val="]"/>
                                        <m:sep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m:t>
                                            </m:r>
                                          </m:sub>
                                        </m:sSub>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𝑐𝑎𝑠</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𝑒</m:t>
                                            </m:r>
                                          </m:e>
                                          <m:sub>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100</m:t>
                                            </m:r>
                                            <m:r>
                                              <a:rPr lang="en-US" altLang="zh-CN" sz="1800" kern="100">
                                                <a:effectLst/>
                                                <a:latin typeface="Cambria Math" panose="02040503050406030204" pitchFamily="18" charset="0"/>
                                                <a:ea typeface="DengXian" panose="02010600030101010101" pitchFamily="2" charset="-122"/>
                                                <a:cs typeface="Times New Roman" panose="02020603050405020304" pitchFamily="18" charset="0"/>
                                              </a:rPr>
                                              <m:t>%</m:t>
                                            </m:r>
                                          </m:sub>
                                        </m:sSub>
                                      </m:e>
                                    </m:d>
                                  </m:e>
                                  <m:e>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𝑇𝑆</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≥0.7</m:t>
                                    </m:r>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e>
                                </m:mr>
                              </m:m>
                            </m:e>
                          </m:d>
                        </m:e>
                        <m:e/>
                        <m:e>
                          <m:r>
                            <m:rPr>
                              <m:nor/>
                            </m:rPr>
                            <a:rPr lang="en-US" altLang="zh-CN" sz="1800" kern="100">
                              <a:effectLst/>
                              <a:latin typeface="DengXian" panose="02010600030101010101" pitchFamily="2" charset="-122"/>
                              <a:ea typeface="DengXian" panose="02010600030101010101" pitchFamily="2" charset="-122"/>
                              <a:cs typeface="Times New Roman" panose="02020603050405020304" pitchFamily="18" charset="0"/>
                            </a:rPr>
                            <m:t>(15)</m:t>
                          </m:r>
                        </m:e>
                      </m:mr>
                    </m:m>
                  </m:oMath>
                </a14:m>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其中</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14:m>
                  <m:oMath xmlns:m="http://schemas.openxmlformats.org/officeDocument/2006/math">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𝐶𝐵</m:t>
                    </m:r>
                  </m:oMath>
                </a14:m>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是案例缓冲区，</a:t>
                </a:r>
                <a14:m>
                  <m:oMath xmlns:m="http://schemas.openxmlformats.org/officeDocument/2006/math">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𝑇𝑆</m:t>
                    </m:r>
                  </m:oMath>
                </a14:m>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是训练步数，</a:t>
                </a:r>
                <a14:m>
                  <m:oMath xmlns:m="http://schemas.openxmlformats.org/officeDocument/2006/math">
                    <m:r>
                      <a:rPr lang="en-US" altLang="zh-CN" sz="1800" i="1" kern="100">
                        <a:effectLst/>
                        <a:latin typeface="Cambria Math" panose="02040503050406030204" pitchFamily="18" charset="0"/>
                        <a:ea typeface="DengXian" panose="02010600030101010101" pitchFamily="2" charset="-122"/>
                        <a:cs typeface="Times New Roman" panose="02020603050405020304" pitchFamily="18" charset="0"/>
                      </a:rPr>
                      <m:t>𝑀</m:t>
                    </m:r>
                  </m:oMath>
                </a14:m>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代表百万。</a:t>
                </a:r>
              </a:p>
              <a:p>
                <a:endParaRPr kumimoji="1" lang="zh-CN" altLang="en-US" dirty="0"/>
              </a:p>
            </p:txBody>
          </p:sp>
        </mc:Choice>
        <mc:Fallback>
          <p:sp>
            <p:nvSpPr>
              <p:cNvPr id="3" name="内容占位符 2">
                <a:extLst>
                  <a:ext uri="{FF2B5EF4-FFF2-40B4-BE49-F238E27FC236}">
                    <a16:creationId xmlns:a16="http://schemas.microsoft.com/office/drawing/2014/main" id="{CBAEDC50-DD18-6A0E-1417-B38439B5C59C}"/>
                  </a:ext>
                </a:extLst>
              </p:cNvPr>
              <p:cNvSpPr>
                <a:spLocks noGrp="1" noRot="1" noChangeAspect="1" noMove="1" noResize="1" noEditPoints="1" noAdjustHandles="1" noChangeArrowheads="1" noChangeShapeType="1" noTextEdit="1"/>
              </p:cNvSpPr>
              <p:nvPr>
                <p:ph idx="1"/>
              </p:nvPr>
            </p:nvSpPr>
            <p:spPr>
              <a:xfrm>
                <a:off x="750367" y="823328"/>
                <a:ext cx="10691265" cy="3739896"/>
              </a:xfrm>
              <a:blipFill>
                <a:blip r:embed="rId2"/>
                <a:stretch>
                  <a:fillRect l="-356" b="-557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8992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0D548-AF40-B26C-E248-79BB0C1ECB75}"/>
              </a:ext>
            </a:extLst>
          </p:cNvPr>
          <p:cNvSpPr>
            <a:spLocks noGrp="1"/>
          </p:cNvSpPr>
          <p:nvPr>
            <p:ph type="title"/>
          </p:nvPr>
        </p:nvSpPr>
        <p:spPr>
          <a:xfrm>
            <a:off x="4224268" y="3003567"/>
            <a:ext cx="3743463" cy="850865"/>
          </a:xfrm>
        </p:spPr>
        <p:txBody>
          <a:bodyPr/>
          <a:lstStyle/>
          <a:p>
            <a:r>
              <a:rPr kumimoji="1" lang="zh-CN" altLang="en-US" dirty="0"/>
              <a:t>语义地图构建</a:t>
            </a:r>
          </a:p>
        </p:txBody>
      </p:sp>
    </p:spTree>
    <p:extLst>
      <p:ext uri="{BB962C8B-B14F-4D97-AF65-F5344CB8AC3E}">
        <p14:creationId xmlns:p14="http://schemas.microsoft.com/office/powerpoint/2010/main" val="1783745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B89FED-4C63-30F7-EAEF-000AEFF174C8}"/>
              </a:ext>
            </a:extLst>
          </p:cNvPr>
          <p:cNvSpPr>
            <a:spLocks noGrp="1"/>
          </p:cNvSpPr>
          <p:nvPr>
            <p:ph idx="1"/>
          </p:nvPr>
        </p:nvSpPr>
        <p:spPr>
          <a:xfrm>
            <a:off x="750367" y="782075"/>
            <a:ext cx="10691265" cy="3739896"/>
          </a:xfrm>
        </p:spPr>
        <p:txBody>
          <a:bodyPr/>
          <a:lstStyle/>
          <a:p>
            <a:r>
              <a:rPr kumimoji="1" lang="zh-CN" altLang="en-US" dirty="0"/>
              <a:t>通常机器人使用即时定位和</a:t>
            </a:r>
            <a:r>
              <a:rPr kumimoji="1" lang="en" altLang="zh-CN" dirty="0"/>
              <a:t>SLAM</a:t>
            </a:r>
            <a:r>
              <a:rPr kumimoji="1" lang="zh-CN" altLang="en-US" dirty="0"/>
              <a:t>来构建网格地图，对于</a:t>
            </a:r>
            <a:r>
              <a:rPr kumimoji="1" lang="en" altLang="zh-CN" dirty="0"/>
              <a:t>UAV</a:t>
            </a:r>
            <a:r>
              <a:rPr kumimoji="1" lang="zh-CN" altLang="en-US" dirty="0"/>
              <a:t>来说，仅仅构建网格地图不足以支撑无人机进行决策。因此通过摄像头获取的</a:t>
            </a:r>
            <a:r>
              <a:rPr kumimoji="1" lang="en" altLang="zh-CN" dirty="0"/>
              <a:t>RGB-D</a:t>
            </a:r>
            <a:r>
              <a:rPr kumimoji="1" lang="zh-CN" altLang="en-US" dirty="0"/>
              <a:t>图像在网格地图上构建语义地图。</a:t>
            </a:r>
            <a:endParaRPr kumimoji="1" lang="en-US" altLang="zh-CN" dirty="0"/>
          </a:p>
          <a:p>
            <a:r>
              <a:rPr kumimoji="1" lang="zh-CN" altLang="en-US" dirty="0"/>
              <a:t>建图的过程如下：</a:t>
            </a:r>
            <a:endParaRPr kumimoji="1" lang="en-US" altLang="zh-CN" dirty="0"/>
          </a:p>
        </p:txBody>
      </p:sp>
      <p:pic>
        <p:nvPicPr>
          <p:cNvPr id="7" name="图片 6" descr="截图里有图片&#10;&#10;描述已自动生成">
            <a:extLst>
              <a:ext uri="{FF2B5EF4-FFF2-40B4-BE49-F238E27FC236}">
                <a16:creationId xmlns:a16="http://schemas.microsoft.com/office/drawing/2014/main" id="{F14A30F0-E020-2DA0-C9C4-CA0EF8FB463B}"/>
              </a:ext>
            </a:extLst>
          </p:cNvPr>
          <p:cNvPicPr>
            <a:picLocks noChangeAspect="1"/>
          </p:cNvPicPr>
          <p:nvPr/>
        </p:nvPicPr>
        <p:blipFill>
          <a:blip r:embed="rId2"/>
          <a:stretch>
            <a:fillRect/>
          </a:stretch>
        </p:blipFill>
        <p:spPr>
          <a:xfrm>
            <a:off x="3858197" y="1836435"/>
            <a:ext cx="7772400" cy="4239490"/>
          </a:xfrm>
          <a:prstGeom prst="rect">
            <a:avLst/>
          </a:prstGeom>
        </p:spPr>
      </p:pic>
    </p:spTree>
    <p:extLst>
      <p:ext uri="{BB962C8B-B14F-4D97-AF65-F5344CB8AC3E}">
        <p14:creationId xmlns:p14="http://schemas.microsoft.com/office/powerpoint/2010/main" val="3868746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C60BC177-64B5-5FF9-17B8-B13EE00C2E48}"/>
              </a:ext>
            </a:extLst>
          </p:cNvPr>
          <p:cNvSpPr>
            <a:spLocks noGrp="1"/>
          </p:cNvSpPr>
          <p:nvPr>
            <p:ph type="title"/>
          </p:nvPr>
        </p:nvSpPr>
        <p:spPr>
          <a:xfrm>
            <a:off x="704088" y="914400"/>
            <a:ext cx="3799763" cy="1473200"/>
          </a:xfrm>
        </p:spPr>
        <p:txBody>
          <a:bodyPr>
            <a:normAutofit/>
          </a:bodyPr>
          <a:lstStyle/>
          <a:p>
            <a:endParaRPr kumimoji="1" lang="zh-CN" altLang="en-US" sz="3600"/>
          </a:p>
        </p:txBody>
      </p:sp>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内容占位符 2">
            <a:extLst>
              <a:ext uri="{FF2B5EF4-FFF2-40B4-BE49-F238E27FC236}">
                <a16:creationId xmlns:a16="http://schemas.microsoft.com/office/drawing/2014/main" id="{F549FA89-BB33-9FB8-37F4-347C1E0BD628}"/>
              </a:ext>
            </a:extLst>
          </p:cNvPr>
          <p:cNvSpPr>
            <a:spLocks noGrp="1"/>
          </p:cNvSpPr>
          <p:nvPr>
            <p:ph idx="1"/>
          </p:nvPr>
        </p:nvSpPr>
        <p:spPr>
          <a:xfrm>
            <a:off x="704088" y="2387600"/>
            <a:ext cx="3799763" cy="3767328"/>
          </a:xfrm>
        </p:spPr>
        <p:txBody>
          <a:bodyPr>
            <a:normAutofit/>
          </a:bodyPr>
          <a:lstStyle/>
          <a:p>
            <a:r>
              <a:rPr kumimoji="1" lang="zh-CN" altLang="en-US" dirty="0"/>
              <a:t>论文给出的大致效果如下：</a:t>
            </a:r>
          </a:p>
        </p:txBody>
      </p:sp>
      <p:pic>
        <p:nvPicPr>
          <p:cNvPr id="4" name="图片 3">
            <a:extLst>
              <a:ext uri="{FF2B5EF4-FFF2-40B4-BE49-F238E27FC236}">
                <a16:creationId xmlns:a16="http://schemas.microsoft.com/office/drawing/2014/main" id="{C93D74D4-01C1-FDDE-764B-F042D3DD4DF9}"/>
              </a:ext>
            </a:extLst>
          </p:cNvPr>
          <p:cNvPicPr>
            <a:picLocks noChangeAspect="1"/>
          </p:cNvPicPr>
          <p:nvPr/>
        </p:nvPicPr>
        <p:blipFill>
          <a:blip r:embed="rId2"/>
          <a:srcRect r="230" b="-1"/>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1083757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BF7E0B7-B91B-1849-529E-ABBBF6EB04B0}"/>
              </a:ext>
            </a:extLst>
          </p:cNvPr>
          <p:cNvSpPr txBox="1">
            <a:spLocks/>
          </p:cNvSpPr>
          <p:nvPr/>
        </p:nvSpPr>
        <p:spPr>
          <a:xfrm>
            <a:off x="3781713" y="2775204"/>
            <a:ext cx="10691265" cy="1307592"/>
          </a:xfrm>
          <a:prstGeom prst="rect">
            <a:avLst/>
          </a:prstGeom>
        </p:spPr>
        <p:txBody>
          <a:bodyPr lIns="109728" tIns="109728" rIns="109728" bIns="91440" anchor="t"/>
          <a:lstStyle>
            <a:lvl1pPr algn="l" defTabSz="914400" rtl="0" eaLnBrk="1" latinLnBrk="0" hangingPunct="1">
              <a:lnSpc>
                <a:spcPct val="100000"/>
              </a:lnSpc>
              <a:spcBef>
                <a:spcPct val="0"/>
              </a:spcBef>
              <a:buNone/>
              <a:defRPr sz="4000" kern="1200" cap="none" spc="300" baseline="0">
                <a:solidFill>
                  <a:schemeClr val="tx1"/>
                </a:solidFill>
                <a:latin typeface="+mj-lt"/>
                <a:ea typeface="+mj-ea"/>
                <a:cs typeface="+mj-cs"/>
              </a:defRPr>
            </a:lvl1pPr>
          </a:lstStyle>
          <a:p>
            <a:r>
              <a:rPr kumimoji="1" lang="en-US" altLang="zh-CN"/>
              <a:t>AirSim</a:t>
            </a:r>
            <a:r>
              <a:rPr kumimoji="1" lang="zh-CN" altLang="en-US"/>
              <a:t>环境配置</a:t>
            </a:r>
            <a:endParaRPr kumimoji="1" lang="zh-CN" altLang="en-US" dirty="0"/>
          </a:p>
        </p:txBody>
      </p:sp>
    </p:spTree>
    <p:extLst>
      <p:ext uri="{BB962C8B-B14F-4D97-AF65-F5344CB8AC3E}">
        <p14:creationId xmlns:p14="http://schemas.microsoft.com/office/powerpoint/2010/main" val="959716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1B3259B-8851-EA9B-5084-CD7B4BD58F33}"/>
              </a:ext>
            </a:extLst>
          </p:cNvPr>
          <p:cNvSpPr>
            <a:spLocks noGrp="1"/>
          </p:cNvSpPr>
          <p:nvPr>
            <p:ph idx="1"/>
          </p:nvPr>
        </p:nvSpPr>
        <p:spPr>
          <a:xfrm>
            <a:off x="750367" y="783636"/>
            <a:ext cx="10691265" cy="3739896"/>
          </a:xfrm>
        </p:spPr>
        <p:txBody>
          <a:bodyPr/>
          <a:lstStyle/>
          <a:p>
            <a:r>
              <a:rPr kumimoji="1" lang="zh-CN" altLang="en-US" dirty="0"/>
              <a:t>主机配置</a:t>
            </a:r>
          </a:p>
        </p:txBody>
      </p:sp>
      <p:pic>
        <p:nvPicPr>
          <p:cNvPr id="4" name="图片 3">
            <a:extLst>
              <a:ext uri="{FF2B5EF4-FFF2-40B4-BE49-F238E27FC236}">
                <a16:creationId xmlns:a16="http://schemas.microsoft.com/office/drawing/2014/main" id="{E627C4F5-D98C-0898-EA0D-3B4BFBA36FF2}"/>
              </a:ext>
            </a:extLst>
          </p:cNvPr>
          <p:cNvPicPr>
            <a:picLocks noChangeAspect="1"/>
          </p:cNvPicPr>
          <p:nvPr/>
        </p:nvPicPr>
        <p:blipFill>
          <a:blip r:embed="rId2"/>
          <a:stretch>
            <a:fillRect/>
          </a:stretch>
        </p:blipFill>
        <p:spPr>
          <a:xfrm>
            <a:off x="2726312" y="783636"/>
            <a:ext cx="5112000" cy="2392050"/>
          </a:xfrm>
          <a:prstGeom prst="rect">
            <a:avLst/>
          </a:prstGeom>
        </p:spPr>
      </p:pic>
      <p:sp>
        <p:nvSpPr>
          <p:cNvPr id="7" name="标题 1">
            <a:extLst>
              <a:ext uri="{FF2B5EF4-FFF2-40B4-BE49-F238E27FC236}">
                <a16:creationId xmlns:a16="http://schemas.microsoft.com/office/drawing/2014/main" id="{3C8BF0C8-802C-A6DE-D0BD-836E21E76DD7}"/>
              </a:ext>
            </a:extLst>
          </p:cNvPr>
          <p:cNvSpPr>
            <a:spLocks noGrp="1"/>
          </p:cNvSpPr>
          <p:nvPr>
            <p:ph type="title"/>
          </p:nvPr>
        </p:nvSpPr>
        <p:spPr>
          <a:xfrm>
            <a:off x="750367" y="3367761"/>
            <a:ext cx="2118957" cy="1307592"/>
          </a:xfrm>
        </p:spPr>
        <p:txBody>
          <a:bodyPr/>
          <a:lstStyle/>
          <a:p>
            <a:r>
              <a:rPr kumimoji="1" lang="en-US" altLang="zh-CN" sz="2000" dirty="0"/>
              <a:t>·</a:t>
            </a:r>
            <a:r>
              <a:rPr kumimoji="1" lang="zh-CN" altLang="en-US" sz="2000" dirty="0"/>
              <a:t>软件环境配置</a:t>
            </a:r>
          </a:p>
        </p:txBody>
      </p:sp>
      <p:sp>
        <p:nvSpPr>
          <p:cNvPr id="8" name="内容占位符 2">
            <a:extLst>
              <a:ext uri="{FF2B5EF4-FFF2-40B4-BE49-F238E27FC236}">
                <a16:creationId xmlns:a16="http://schemas.microsoft.com/office/drawing/2014/main" id="{65787F6A-9128-BE84-A376-24963E871EE3}"/>
              </a:ext>
            </a:extLst>
          </p:cNvPr>
          <p:cNvSpPr txBox="1">
            <a:spLocks/>
          </p:cNvSpPr>
          <p:nvPr/>
        </p:nvSpPr>
        <p:spPr>
          <a:xfrm>
            <a:off x="2634538" y="3327507"/>
            <a:ext cx="10691265" cy="3739896"/>
          </a:xfrm>
          <a:prstGeom prst="rect">
            <a:avLst/>
          </a:prstGeom>
        </p:spPr>
        <p:txBody>
          <a:bodyPr lIns="109728" tIns="109728" rIns="109728" bIns="91440"/>
          <a:lstStyle>
            <a:lvl1pPr marL="228600" indent="-228600" algn="l" defTabSz="914400" rtl="0" eaLnBrk="1" latinLnBrk="0" hangingPunct="1">
              <a:lnSpc>
                <a:spcPct val="120000"/>
              </a:lnSpc>
              <a:spcBef>
                <a:spcPts val="1000"/>
              </a:spcBef>
              <a:buFont typeface="Arial" panose="020B0604020202020204" pitchFamily="34" charset="0"/>
              <a:buChar char="•"/>
              <a:defRPr sz="2000" kern="1200" spc="18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spc="18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18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spc="18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spc="18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sz="1800" kern="100" dirty="0" err="1">
                <a:latin typeface="Calibri" panose="020F0502020204030204" pitchFamily="34" charset="0"/>
                <a:ea typeface="宋体" panose="02010600030101010101" pitchFamily="2" charset="-122"/>
                <a:cs typeface="Times New Roman" panose="02020603050405020304" pitchFamily="18" charset="0"/>
              </a:rPr>
              <a:t>AirSim</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 </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版本：</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v1.8.1 (2022</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年</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7</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月发布， 以停止更新</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sz="1800" kern="100" dirty="0" err="1">
                <a:latin typeface="Calibri" panose="020F0502020204030204" pitchFamily="34" charset="0"/>
                <a:ea typeface="宋体" panose="02010600030101010101" pitchFamily="2" charset="-122"/>
                <a:cs typeface="Times New Roman" panose="02020603050405020304" pitchFamily="18" charset="0"/>
              </a:rPr>
              <a:t>AirSim</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 APIs </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版本：</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v1.8.1</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（以停止更新）</a:t>
            </a:r>
          </a:p>
          <a:p>
            <a:pPr algn="just"/>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虚幻引擎版本：</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4.24</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4.27</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5.1</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Visual Studio</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版本：</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Visual Studio Community 2022</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Python</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版本：</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Python 3.7</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endParaRPr kumimoji="1" lang="zh-CN" altLang="en-US" dirty="0"/>
          </a:p>
        </p:txBody>
      </p:sp>
    </p:spTree>
    <p:extLst>
      <p:ext uri="{BB962C8B-B14F-4D97-AF65-F5344CB8AC3E}">
        <p14:creationId xmlns:p14="http://schemas.microsoft.com/office/powerpoint/2010/main" val="2784963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40E456-1A88-8632-A57F-6F88A8547823}"/>
              </a:ext>
            </a:extLst>
          </p:cNvPr>
          <p:cNvSpPr>
            <a:spLocks noGrp="1"/>
          </p:cNvSpPr>
          <p:nvPr>
            <p:ph type="title"/>
          </p:nvPr>
        </p:nvSpPr>
        <p:spPr/>
        <p:txBody>
          <a:bodyPr/>
          <a:lstStyle/>
          <a:p>
            <a:r>
              <a:rPr kumimoji="1" lang="en-US" altLang="zh-CN" dirty="0" err="1"/>
              <a:t>Airsim</a:t>
            </a:r>
            <a:r>
              <a:rPr kumimoji="1" lang="zh-CN" altLang="en-US" dirty="0"/>
              <a:t>配置</a:t>
            </a:r>
          </a:p>
        </p:txBody>
      </p:sp>
      <p:sp>
        <p:nvSpPr>
          <p:cNvPr id="3" name="内容占位符 2">
            <a:extLst>
              <a:ext uri="{FF2B5EF4-FFF2-40B4-BE49-F238E27FC236}">
                <a16:creationId xmlns:a16="http://schemas.microsoft.com/office/drawing/2014/main" id="{172C3B82-EC6F-79A4-23F3-00901118120B}"/>
              </a:ext>
            </a:extLst>
          </p:cNvPr>
          <p:cNvSpPr>
            <a:spLocks noGrp="1"/>
          </p:cNvSpPr>
          <p:nvPr>
            <p:ph idx="1"/>
          </p:nvPr>
        </p:nvSpPr>
        <p:spPr>
          <a:xfrm>
            <a:off x="700634" y="1791068"/>
            <a:ext cx="10691265" cy="3739896"/>
          </a:xfrm>
        </p:spPr>
        <p:txBody>
          <a:bodyPr/>
          <a:lstStyle/>
          <a:p>
            <a:r>
              <a:rPr kumimoji="1" lang="zh-CN" altLang="en-US" sz="2800" dirty="0"/>
              <a:t>下载</a:t>
            </a:r>
            <a:r>
              <a:rPr kumimoji="1" lang="en-US" altLang="zh-CN" sz="2800" dirty="0" err="1"/>
              <a:t>Airsim</a:t>
            </a:r>
            <a:r>
              <a:rPr kumimoji="1" lang="zh-CN" altLang="en-US" sz="2800" dirty="0"/>
              <a:t>源码：</a:t>
            </a:r>
            <a:endParaRPr kumimoji="1" lang="en-US" altLang="zh-CN" sz="2800" dirty="0"/>
          </a:p>
          <a:p>
            <a:r>
              <a:rPr kumimoji="1" lang="zh-CN" altLang="en-US" dirty="0"/>
              <a:t>通过</a:t>
            </a:r>
            <a:r>
              <a:rPr kumimoji="1" lang="en-US" altLang="zh-CN" dirty="0"/>
              <a:t>git</a:t>
            </a:r>
            <a:r>
              <a:rPr kumimoji="1" lang="zh-CN" altLang="en-US" dirty="0"/>
              <a:t>工具或</a:t>
            </a:r>
            <a:r>
              <a:rPr kumimoji="1" lang="en" altLang="zh-CN" dirty="0"/>
              <a:t>Developer Command Prompt for VS 2022</a:t>
            </a:r>
            <a:r>
              <a:rPr kumimoji="1" lang="zh-CN" altLang="en-US" dirty="0"/>
              <a:t>下载</a:t>
            </a:r>
            <a:r>
              <a:rPr kumimoji="1" lang="en-US" altLang="zh-CN" dirty="0" err="1"/>
              <a:t>Airsim</a:t>
            </a:r>
            <a:r>
              <a:rPr kumimoji="1" lang="zh-CN" altLang="en-US" dirty="0"/>
              <a:t>源码</a:t>
            </a:r>
            <a:endParaRPr kumimoji="1" lang="en-US" altLang="zh-CN" dirty="0"/>
          </a:p>
          <a:p>
            <a:r>
              <a:rPr kumimoji="1" lang="zh-CN" altLang="en-US" sz="2800" dirty="0"/>
              <a:t>编译</a:t>
            </a:r>
            <a:r>
              <a:rPr kumimoji="1" lang="en-US" altLang="zh-CN" sz="2800" dirty="0" err="1"/>
              <a:t>Airsim</a:t>
            </a:r>
            <a:r>
              <a:rPr kumimoji="1" lang="zh-CN" altLang="en-US" sz="2800" dirty="0"/>
              <a:t>源码：</a:t>
            </a:r>
            <a:endParaRPr kumimoji="1" lang="en-US" altLang="zh-CN" sz="2800" dirty="0"/>
          </a:p>
          <a:p>
            <a:r>
              <a:rPr kumimoji="1" lang="zh-CN" altLang="en-US" dirty="0"/>
              <a:t>输入指令 </a:t>
            </a:r>
            <a:r>
              <a:rPr kumimoji="1" lang="en" altLang="zh-CN" dirty="0"/>
              <a:t>CD </a:t>
            </a:r>
            <a:r>
              <a:rPr kumimoji="1" lang="en" altLang="zh-CN" dirty="0" err="1"/>
              <a:t>AirSim</a:t>
            </a:r>
            <a:r>
              <a:rPr kumimoji="1" lang="en" altLang="zh-CN" dirty="0"/>
              <a:t> </a:t>
            </a:r>
            <a:r>
              <a:rPr kumimoji="1" lang="zh-CN" altLang="en-US" dirty="0"/>
              <a:t>进入到 “</a:t>
            </a:r>
            <a:r>
              <a:rPr kumimoji="1" lang="en" altLang="zh-CN" dirty="0" err="1"/>
              <a:t>AirSim</a:t>
            </a:r>
            <a:r>
              <a:rPr kumimoji="1" lang="en" altLang="zh-CN" dirty="0"/>
              <a:t>” </a:t>
            </a:r>
            <a:r>
              <a:rPr kumimoji="1" lang="zh-CN" altLang="en-US" dirty="0"/>
              <a:t>文件夹中，继续输入指令：</a:t>
            </a:r>
            <a:r>
              <a:rPr kumimoji="1" lang="en" altLang="zh-CN" dirty="0" err="1"/>
              <a:t>build.cmd</a:t>
            </a:r>
            <a:r>
              <a:rPr kumimoji="1" lang="zh-CN" altLang="en" dirty="0"/>
              <a:t>，</a:t>
            </a:r>
            <a:r>
              <a:rPr kumimoji="1" lang="zh-CN" altLang="en-US" dirty="0"/>
              <a:t>开始编译</a:t>
            </a:r>
            <a:r>
              <a:rPr kumimoji="1" lang="en" altLang="zh-CN" dirty="0" err="1"/>
              <a:t>AirSim</a:t>
            </a:r>
            <a:r>
              <a:rPr kumimoji="1" lang="zh-CN" altLang="en" dirty="0"/>
              <a:t>。</a:t>
            </a:r>
          </a:p>
          <a:p>
            <a:r>
              <a:rPr kumimoji="1" lang="zh-CN" altLang="en-US" dirty="0"/>
              <a:t>编译好之后会在 “</a:t>
            </a:r>
            <a:r>
              <a:rPr kumimoji="1" lang="en" altLang="zh-CN" dirty="0" err="1"/>
              <a:t>AirSim</a:t>
            </a:r>
            <a:r>
              <a:rPr kumimoji="1" lang="en" altLang="zh-CN" dirty="0"/>
              <a:t>\Unreal” </a:t>
            </a:r>
            <a:r>
              <a:rPr kumimoji="1" lang="zh-CN" altLang="en-US" dirty="0"/>
              <a:t>文件夹中生成 “</a:t>
            </a:r>
            <a:r>
              <a:rPr kumimoji="1" lang="en" altLang="zh-CN" dirty="0"/>
              <a:t>Plugins” </a:t>
            </a:r>
            <a:r>
              <a:rPr kumimoji="1" lang="zh-CN" altLang="en-US" dirty="0"/>
              <a:t>文件夹。这个 “</a:t>
            </a:r>
            <a:r>
              <a:rPr kumimoji="1" lang="en" altLang="zh-CN" dirty="0"/>
              <a:t>Plugins” </a:t>
            </a:r>
            <a:r>
              <a:rPr kumimoji="1" lang="zh-CN" altLang="en-US" dirty="0"/>
              <a:t>文件夹非常重要，可以把它复制到任何一个虚幻引擎的工程中，这样就可以使用 </a:t>
            </a:r>
            <a:r>
              <a:rPr kumimoji="1" lang="en" altLang="zh-CN" dirty="0" err="1"/>
              <a:t>AirSim</a:t>
            </a:r>
            <a:r>
              <a:rPr kumimoji="1" lang="en" altLang="zh-CN" dirty="0"/>
              <a:t> </a:t>
            </a:r>
            <a:r>
              <a:rPr kumimoji="1" lang="zh-CN" altLang="en-US" dirty="0"/>
              <a:t>插件了。</a:t>
            </a:r>
          </a:p>
          <a:p>
            <a:r>
              <a:rPr kumimoji="1" lang="zh-CN" altLang="en-US" dirty="0"/>
              <a:t>至此 </a:t>
            </a:r>
            <a:r>
              <a:rPr kumimoji="1" lang="en" altLang="zh-CN" dirty="0" err="1"/>
              <a:t>AirSim</a:t>
            </a:r>
            <a:r>
              <a:rPr kumimoji="1" lang="en" altLang="zh-CN" dirty="0"/>
              <a:t> </a:t>
            </a:r>
            <a:r>
              <a:rPr kumimoji="1" lang="zh-CN" altLang="en-US" dirty="0"/>
              <a:t>源码编译成功。 </a:t>
            </a:r>
          </a:p>
        </p:txBody>
      </p:sp>
    </p:spTree>
    <p:extLst>
      <p:ext uri="{BB962C8B-B14F-4D97-AF65-F5344CB8AC3E}">
        <p14:creationId xmlns:p14="http://schemas.microsoft.com/office/powerpoint/2010/main" val="1941978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A0DCAF-76EE-7190-DDAB-811AE12B1D8A}"/>
              </a:ext>
            </a:extLst>
          </p:cNvPr>
          <p:cNvSpPr>
            <a:spLocks noGrp="1"/>
          </p:cNvSpPr>
          <p:nvPr>
            <p:ph type="title"/>
          </p:nvPr>
        </p:nvSpPr>
        <p:spPr/>
        <p:txBody>
          <a:bodyPr/>
          <a:lstStyle/>
          <a:p>
            <a:r>
              <a:rPr kumimoji="1" lang="zh-CN" altLang="en-US" dirty="0"/>
              <a:t>虚幻引擎和</a:t>
            </a:r>
            <a:r>
              <a:rPr kumimoji="1" lang="en-US" altLang="zh-CN" dirty="0" err="1"/>
              <a:t>Airsim</a:t>
            </a:r>
            <a:r>
              <a:rPr kumimoji="1" lang="zh-CN" altLang="en-US" dirty="0"/>
              <a:t>配置测试</a:t>
            </a:r>
          </a:p>
        </p:txBody>
      </p:sp>
      <p:pic>
        <p:nvPicPr>
          <p:cNvPr id="4" name="内容占位符 3">
            <a:extLst>
              <a:ext uri="{FF2B5EF4-FFF2-40B4-BE49-F238E27FC236}">
                <a16:creationId xmlns:a16="http://schemas.microsoft.com/office/drawing/2014/main" id="{93312F47-BB20-9FAD-70C1-C2849ACC6BBC}"/>
              </a:ext>
            </a:extLst>
          </p:cNvPr>
          <p:cNvPicPr>
            <a:picLocks noGrp="1" noChangeAspect="1"/>
          </p:cNvPicPr>
          <p:nvPr>
            <p:ph idx="1"/>
          </p:nvPr>
        </p:nvPicPr>
        <p:blipFill>
          <a:blip r:embed="rId2"/>
          <a:stretch>
            <a:fillRect/>
          </a:stretch>
        </p:blipFill>
        <p:spPr>
          <a:xfrm>
            <a:off x="700635" y="1718004"/>
            <a:ext cx="4340922" cy="4412792"/>
          </a:xfrm>
          <a:prstGeom prst="rect">
            <a:avLst/>
          </a:prstGeom>
          <a:noFill/>
          <a:ln>
            <a:noFill/>
          </a:ln>
        </p:spPr>
      </p:pic>
      <p:pic>
        <p:nvPicPr>
          <p:cNvPr id="5" name="图片 4">
            <a:extLst>
              <a:ext uri="{FF2B5EF4-FFF2-40B4-BE49-F238E27FC236}">
                <a16:creationId xmlns:a16="http://schemas.microsoft.com/office/drawing/2014/main" id="{E94E2A20-1CD7-01F9-A661-9701E87DB867}"/>
              </a:ext>
            </a:extLst>
          </p:cNvPr>
          <p:cNvPicPr>
            <a:picLocks noChangeAspect="1"/>
          </p:cNvPicPr>
          <p:nvPr/>
        </p:nvPicPr>
        <p:blipFill>
          <a:blip r:embed="rId3"/>
          <a:stretch>
            <a:fillRect/>
          </a:stretch>
        </p:blipFill>
        <p:spPr>
          <a:xfrm>
            <a:off x="4988013" y="1718004"/>
            <a:ext cx="5515230" cy="4399013"/>
          </a:xfrm>
          <a:prstGeom prst="rect">
            <a:avLst/>
          </a:prstGeom>
          <a:noFill/>
          <a:ln>
            <a:noFill/>
          </a:ln>
        </p:spPr>
      </p:pic>
      <p:sp>
        <p:nvSpPr>
          <p:cNvPr id="6" name="文本框 5">
            <a:extLst>
              <a:ext uri="{FF2B5EF4-FFF2-40B4-BE49-F238E27FC236}">
                <a16:creationId xmlns:a16="http://schemas.microsoft.com/office/drawing/2014/main" id="{084D6BCE-5AAF-3B46-7690-CA4B39F62D90}"/>
              </a:ext>
            </a:extLst>
          </p:cNvPr>
          <p:cNvSpPr txBox="1"/>
          <p:nvPr/>
        </p:nvSpPr>
        <p:spPr>
          <a:xfrm>
            <a:off x="700635" y="6214738"/>
            <a:ext cx="10551641" cy="923330"/>
          </a:xfrm>
          <a:prstGeom prst="rect">
            <a:avLst/>
          </a:prstGeom>
          <a:noFill/>
        </p:spPr>
        <p:txBody>
          <a:bodyPr wrap="square" rtlCol="0">
            <a:spAutoFit/>
          </a:bodyPr>
          <a:lstStyle/>
          <a:p>
            <a:r>
              <a:rPr kumimoji="1" lang="zh-CN" altLang="en-US" dirty="0"/>
              <a:t>点击工具栏的 “停止” 按钮，可以退出仿真。关闭虚幻引擎后，</a:t>
            </a:r>
            <a:r>
              <a:rPr kumimoji="1" lang="en" altLang="zh-CN" dirty="0"/>
              <a:t>Visual Studio </a:t>
            </a:r>
            <a:r>
              <a:rPr kumimoji="1" lang="zh-CN" altLang="en-US" dirty="0"/>
              <a:t>中会自动停止调试。</a:t>
            </a:r>
          </a:p>
          <a:p>
            <a:r>
              <a:rPr kumimoji="1" lang="zh-CN" altLang="en-US" dirty="0"/>
              <a:t>至此，</a:t>
            </a:r>
            <a:r>
              <a:rPr kumimoji="1" lang="en" altLang="zh-CN" dirty="0" err="1"/>
              <a:t>AirSim</a:t>
            </a:r>
            <a:r>
              <a:rPr kumimoji="1" lang="en" altLang="zh-CN" dirty="0"/>
              <a:t> </a:t>
            </a:r>
            <a:r>
              <a:rPr kumimoji="1" lang="zh-CN" altLang="en-US" dirty="0"/>
              <a:t>全部安装完成</a:t>
            </a:r>
          </a:p>
          <a:p>
            <a:endParaRPr kumimoji="1" lang="zh-CN" altLang="en-US" dirty="0"/>
          </a:p>
        </p:txBody>
      </p:sp>
    </p:spTree>
    <p:extLst>
      <p:ext uri="{BB962C8B-B14F-4D97-AF65-F5344CB8AC3E}">
        <p14:creationId xmlns:p14="http://schemas.microsoft.com/office/powerpoint/2010/main" val="3336143975"/>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Microsoft YaHei"/>
        <a:ea typeface=""/>
        <a:cs typeface=""/>
      </a:majorFont>
      <a:minorFont>
        <a:latin typeface="Microsoft YaHe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137</TotalTime>
  <Words>422</Words>
  <Application>Microsoft Macintosh PowerPoint</Application>
  <PresentationFormat>宽屏</PresentationFormat>
  <Paragraphs>34</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DengXian</vt:lpstr>
      <vt:lpstr>Microsoft YaHei</vt:lpstr>
      <vt:lpstr>Arial</vt:lpstr>
      <vt:lpstr>Calibri</vt:lpstr>
      <vt:lpstr>Calisto MT</vt:lpstr>
      <vt:lpstr>Cambria Math</vt:lpstr>
      <vt:lpstr>ChronicleVTI</vt:lpstr>
      <vt:lpstr>面向复杂城市楼宇环境的无人机物流路径规划</vt:lpstr>
      <vt:lpstr>训练方法 </vt:lpstr>
      <vt:lpstr>PowerPoint 演示文稿</vt:lpstr>
      <vt:lpstr>PowerPoint 演示文稿</vt:lpstr>
      <vt:lpstr>语义地图构建</vt:lpstr>
      <vt:lpstr>PowerPoint 演示文稿</vt:lpstr>
      <vt:lpstr>PowerPoint 演示文稿</vt:lpstr>
      <vt:lpstr>PowerPoint 演示文稿</vt:lpstr>
      <vt:lpstr>·软件环境配置</vt:lpstr>
      <vt:lpstr>Airsim配置</vt:lpstr>
      <vt:lpstr>虚幻引擎和Airsim配置测试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面向复杂城市楼宇环境的无人机物流路径规划</dc:title>
  <dc:creator>M19256</dc:creator>
  <cp:lastModifiedBy>M19256</cp:lastModifiedBy>
  <cp:revision>1</cp:revision>
  <dcterms:created xsi:type="dcterms:W3CDTF">2026-03-18T11:53:17Z</dcterms:created>
  <dcterms:modified xsi:type="dcterms:W3CDTF">2026-03-18T14:10:26Z</dcterms:modified>
</cp:coreProperties>
</file>